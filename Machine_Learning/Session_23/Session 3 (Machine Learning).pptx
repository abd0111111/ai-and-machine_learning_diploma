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3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754" y="-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049A10-BFE9-6544-EB6D-AACFDF5B1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900E52D-DC87-64CA-2CDC-BBF04DE74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41D82-D564-0FC4-6B85-1D46A3CD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BC473A-4160-E3D4-4CF1-47E9C2D7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9C3173-A775-A43E-39CF-3DB05532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5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E95D97-EEDA-EB12-634B-22CC14A1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38208D-F6B1-26E2-897F-6AF2178E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EE16AB-67D5-E8A6-8BF1-6E3D38C9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BB1076-5437-A172-FE47-26BCD6FF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E14468-E5A5-6D94-9574-AEA2381B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20B48F-BA46-7D12-2B56-DB76F1CB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ECD26E-6EDD-57E2-9C31-55CEFBA88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58A8AF-2616-F382-ED77-F37C4532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4A0FCDC-B790-CC3E-908C-67F7DF45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1FBFA3-D0F1-E40F-DFF1-4CFAD19A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918B08-B720-B694-0B7B-3648DE93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2E7694-3827-7741-C576-C99580B85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73982D1-FDAB-EE1A-F36B-59E2DBDDF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65CB04-725A-512F-CA61-28DDAB92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58819F-0111-44C1-9817-A765DECA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B9811-B085-6076-2162-8DB8D23D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3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F777C-DBEB-7FF1-404D-B3C814A2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2523FAA-87A5-B38D-9BD8-98233326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7C5569D-72C2-0AF4-472B-B460852B7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74900BE-40D4-8929-CE21-B180A6C5C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D559012-E9A8-FF89-5C6E-45F4F9E48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0F12010-B744-EFD5-C104-FFC0842A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38F88A5-4541-A7A2-ECD8-3130EB02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9D44DA8-6134-21D6-95BD-95C1E4B0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8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DCBDFF-18EA-E680-FD74-9CCBC7DE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B8063F2-7812-AA72-0C63-53057D25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292D6E7-0482-C776-52A6-06C120A2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CCE7B96-7941-BE96-86C8-976D9341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AAB5E1B-9A5E-ADF8-8872-DF29841D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5F78D7B-94E6-3879-6898-02195297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8DAD45-64B0-2545-147B-1DF35650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5EBF64-CC91-887B-A28D-4AD9D979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B4DB80-65A8-0CD4-A106-53B131B3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3DDAF38-5BCC-5FB3-B222-3458DD34C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7E69E19-66F9-4CD3-09E6-81A446C9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3CA607-AAA9-1BEC-4E28-A16E88B1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A92AD8-46CE-4ECB-A334-A9343C2D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7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F256E8-B140-27A0-E4CA-A3ABE726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8F6F708-0DE5-9AAD-D60F-30F6FFA6F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B35E8F-5870-F957-FE92-FFE2D6F1E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3FB8D65-109A-1670-0889-1688E5AE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92156B-ADC3-4135-186B-90D041E0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C06C87C-E810-A8AB-B312-0C014F85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9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67DA00-5861-D8DE-897E-11D482AD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FC6A59-EC05-D8CC-C100-317F3D8A5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D83D53-9E3D-586F-4D3E-C3D7430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C59DB2-761B-CB03-E50A-668C10E5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3706E2-4D5D-4379-39FE-EB999321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EC4B749-D663-9C09-7BA9-E16DCE146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539AD38-89A4-5A59-F59E-41C644688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889B5B-3368-1304-3DCB-D39F01B8A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1AB860-D175-F59C-AF4A-4D336C60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E362DD-484C-EA0E-EE9E-7DD828A5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BABD8E8-3304-6E57-9F11-A037043C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4FC07CA-BD41-7A5C-FFC2-0179F426C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2061B6-DDF2-A060-970A-A0A680BB3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C7116-B452-47F5-BDE1-D68604B3D8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A9909B-64F7-7422-0130-7A9EDE366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A7314A-42A9-C2EC-01A3-016EA451F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A24E1-AA0F-4821-B359-03CC83557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99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14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7730ACB-E7AF-0730-D01A-A03B7859C7CC}"/>
              </a:ext>
            </a:extLst>
          </p:cNvPr>
          <p:cNvSpPr txBox="1"/>
          <p:nvPr/>
        </p:nvSpPr>
        <p:spPr>
          <a:xfrm>
            <a:off x="2147598" y="2782669"/>
            <a:ext cx="789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920B15A-0538-B74D-B575-3676E5FB8A9C}"/>
              </a:ext>
            </a:extLst>
          </p:cNvPr>
          <p:cNvSpPr txBox="1"/>
          <p:nvPr/>
        </p:nvSpPr>
        <p:spPr>
          <a:xfrm>
            <a:off x="3930313" y="3429000"/>
            <a:ext cx="4331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285495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E291F-9A87-FD7C-B325-77B911C4386F}"/>
              </a:ext>
            </a:extLst>
          </p:cNvPr>
          <p:cNvSpPr txBox="1"/>
          <p:nvPr/>
        </p:nvSpPr>
        <p:spPr>
          <a:xfrm>
            <a:off x="1723541" y="1283228"/>
            <a:ext cx="1745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Agenda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DBF11FC-1523-0057-7BCE-FE6C896F4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22403"/>
              </p:ext>
            </p:extLst>
          </p:nvPr>
        </p:nvGraphicFramePr>
        <p:xfrm>
          <a:off x="2596378" y="2225964"/>
          <a:ext cx="6999244" cy="978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311">
                  <a:extLst>
                    <a:ext uri="{9D8B030D-6E8A-4147-A177-3AD203B41FA5}">
                      <a16:colId xmlns:a16="http://schemas.microsoft.com/office/drawing/2014/main" xmlns="" val="2296649913"/>
                    </a:ext>
                  </a:extLst>
                </a:gridCol>
                <a:gridCol w="6430933">
                  <a:extLst>
                    <a:ext uri="{9D8B030D-6E8A-4147-A177-3AD203B41FA5}">
                      <a16:colId xmlns:a16="http://schemas.microsoft.com/office/drawing/2014/main" xmlns="" val="4021298204"/>
                    </a:ext>
                  </a:extLst>
                </a:gridCol>
              </a:tblGrid>
              <a:tr h="4821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38608899"/>
                  </a:ext>
                </a:extLst>
              </a:tr>
              <a:tr h="4964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Classifcation metrics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5105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63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4F609C1-DF3B-B2BA-B37B-2292863506B5}"/>
              </a:ext>
            </a:extLst>
          </p:cNvPr>
          <p:cNvSpPr txBox="1"/>
          <p:nvPr/>
        </p:nvSpPr>
        <p:spPr>
          <a:xfrm>
            <a:off x="3953163" y="2782669"/>
            <a:ext cx="4285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03686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C81F360-0F7F-7287-561A-0C3E6AD10DFC}"/>
              </a:ext>
            </a:extLst>
          </p:cNvPr>
          <p:cNvSpPr txBox="1"/>
          <p:nvPr/>
        </p:nvSpPr>
        <p:spPr>
          <a:xfrm>
            <a:off x="221672" y="1544997"/>
            <a:ext cx="4807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781E269-C00F-1332-420C-393C720841CF}"/>
              </a:ext>
            </a:extLst>
          </p:cNvPr>
          <p:cNvSpPr txBox="1"/>
          <p:nvPr/>
        </p:nvSpPr>
        <p:spPr>
          <a:xfrm>
            <a:off x="1154545" y="2006662"/>
            <a:ext cx="10298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Logistic Regression is a supervised learning </a:t>
            </a:r>
            <a:r>
              <a:rPr lang="en-US" b="1" dirty="0"/>
              <a:t>classification algorithm</a:t>
            </a:r>
            <a:r>
              <a:rPr lang="en-US" dirty="0"/>
              <a:t> used to predict the </a:t>
            </a:r>
            <a:r>
              <a:rPr lang="en-US" b="1" dirty="0"/>
              <a:t>probability of a categorical target variable</a:t>
            </a:r>
            <a:r>
              <a:rPr lang="en-US" dirty="0"/>
              <a:t>. It deals with discrete classes like </a:t>
            </a:r>
            <a:r>
              <a:rPr lang="en-US" b="1" dirty="0"/>
              <a:t>Yes or No, 0 or 1, True or False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CAC9722-F1AD-5D13-FD32-2C899C4BF1ED}"/>
              </a:ext>
            </a:extLst>
          </p:cNvPr>
          <p:cNvSpPr txBox="1"/>
          <p:nvPr/>
        </p:nvSpPr>
        <p:spPr>
          <a:xfrm>
            <a:off x="1533237" y="31992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Probabilistic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B685D9C-14B1-783C-72AE-175FFDF236D9}"/>
              </a:ext>
            </a:extLst>
          </p:cNvPr>
          <p:cNvSpPr txBox="1"/>
          <p:nvPr/>
        </p:nvSpPr>
        <p:spPr>
          <a:xfrm>
            <a:off x="1533237" y="3730486"/>
            <a:ext cx="100214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Unlike linear regression, logistic regression outputs a </a:t>
            </a:r>
            <a:r>
              <a:rPr lang="en-US" b="1" dirty="0"/>
              <a:t>probability value between 0 and 1</a:t>
            </a:r>
            <a:r>
              <a:rPr lang="en-US" dirty="0"/>
              <a:t>, indicating the likelihood that a given input belongs to a certain class. Based on a threshold (usually 0.5), logistic regression then classifies the input as either </a:t>
            </a:r>
            <a:r>
              <a:rPr lang="en-US" b="1" dirty="0"/>
              <a:t>class 0</a:t>
            </a:r>
            <a:r>
              <a:rPr lang="en-US" dirty="0"/>
              <a:t> or </a:t>
            </a:r>
            <a:r>
              <a:rPr lang="en-US" b="1" dirty="0"/>
              <a:t>class 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91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0E95F3-F8A4-4AF7-D30F-C2850DE428CC}"/>
              </a:ext>
            </a:extLst>
          </p:cNvPr>
          <p:cNvSpPr txBox="1"/>
          <p:nvPr/>
        </p:nvSpPr>
        <p:spPr>
          <a:xfrm>
            <a:off x="1588654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S-Curve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F6095EC-48C1-661F-E43A-DECD6F29F8BF}"/>
              </a:ext>
            </a:extLst>
          </p:cNvPr>
          <p:cNvSpPr txBox="1"/>
          <p:nvPr/>
        </p:nvSpPr>
        <p:spPr>
          <a:xfrm>
            <a:off x="-170543" y="1544997"/>
            <a:ext cx="6423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A442357-ACA4-C3FA-9E80-864363D7C24F}"/>
              </a:ext>
            </a:extLst>
          </p:cNvPr>
          <p:cNvSpPr txBox="1"/>
          <p:nvPr/>
        </p:nvSpPr>
        <p:spPr>
          <a:xfrm>
            <a:off x="1828799" y="2359770"/>
            <a:ext cx="9633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Instead of fitting a straight line (as in linear regression), logistic regression fits an </a:t>
            </a:r>
            <a:r>
              <a:rPr lang="en-US" b="1" dirty="0"/>
              <a:t>S-shaped logistic curve</a:t>
            </a:r>
            <a:r>
              <a:rPr lang="en-US" dirty="0"/>
              <a:t>. This sigmoid curve maps the outputs to probabilities between 0 and 1.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88099F5-F3F3-E9FC-FE8B-97ADD3F2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174" y="3359209"/>
            <a:ext cx="4626349" cy="30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7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661FA7F-C52E-A2B7-261B-EB86547F02B1}"/>
              </a:ext>
            </a:extLst>
          </p:cNvPr>
          <p:cNvSpPr txBox="1"/>
          <p:nvPr/>
        </p:nvSpPr>
        <p:spPr>
          <a:xfrm>
            <a:off x="221672" y="1544997"/>
            <a:ext cx="4588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23E185D-3ABF-FE3C-7614-6EC89DABA01D}"/>
              </a:ext>
            </a:extLst>
          </p:cNvPr>
          <p:cNvSpPr txBox="1"/>
          <p:nvPr/>
        </p:nvSpPr>
        <p:spPr>
          <a:xfrm>
            <a:off x="1283855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5B8B1F5-EE01-9277-DA1F-1C4F1400C72D}"/>
              </a:ext>
            </a:extLst>
          </p:cNvPr>
          <p:cNvSpPr txBox="1"/>
          <p:nvPr/>
        </p:nvSpPr>
        <p:spPr>
          <a:xfrm>
            <a:off x="1597891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Logistic (Sigmoid)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84E8EA4-92B7-5ADD-6DF8-F53C516C0454}"/>
              </a:ext>
            </a:extLst>
          </p:cNvPr>
          <p:cNvSpPr txBox="1"/>
          <p:nvPr/>
        </p:nvSpPr>
        <p:spPr>
          <a:xfrm>
            <a:off x="2022762" y="2745326"/>
            <a:ext cx="8451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logistic function, also known as the </a:t>
            </a:r>
            <a:r>
              <a:rPr lang="en-US" b="1" dirty="0"/>
              <a:t>sigmoid function</a:t>
            </a:r>
            <a:r>
              <a:rPr lang="en-US" dirty="0"/>
              <a:t>, is a mathematical function that maps the predicted values to probabilities. The formula is: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DC93492-194A-C037-1A85-2161C9C96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782" y="3544890"/>
            <a:ext cx="2358304" cy="10032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2F02EA8-6DA3-BE4D-4E9A-1581DDEB8E81}"/>
              </a:ext>
            </a:extLst>
          </p:cNvPr>
          <p:cNvSpPr txBox="1"/>
          <p:nvPr/>
        </p:nvSpPr>
        <p:spPr>
          <a:xfrm>
            <a:off x="2022762" y="4701379"/>
            <a:ext cx="8192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function produces values between </a:t>
            </a:r>
            <a:r>
              <a:rPr lang="en-US" b="1" dirty="0"/>
              <a:t>0 and 1</a:t>
            </a:r>
            <a:r>
              <a:rPr lang="en-US" dirty="0"/>
              <a:t>, making it ideal for classification problems. The curve's shape indicates the decision boundary for classification.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3491A415-5725-FA0A-17E3-EDB5D682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34" y="5624709"/>
            <a:ext cx="2931030" cy="9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A49E57B-C9A0-3AF7-1259-EB4A4D97A01B}"/>
              </a:ext>
            </a:extLst>
          </p:cNvPr>
          <p:cNvSpPr txBox="1"/>
          <p:nvPr/>
        </p:nvSpPr>
        <p:spPr>
          <a:xfrm>
            <a:off x="221672" y="1544997"/>
            <a:ext cx="4721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A226288-5874-0EB9-CE34-38C4012E708A}"/>
              </a:ext>
            </a:extLst>
          </p:cNvPr>
          <p:cNvSpPr txBox="1"/>
          <p:nvPr/>
        </p:nvSpPr>
        <p:spPr>
          <a:xfrm>
            <a:off x="1182255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Regression Equation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601050F-E703-0608-2B15-C4F7631D3978}"/>
              </a:ext>
            </a:extLst>
          </p:cNvPr>
          <p:cNvSpPr txBox="1"/>
          <p:nvPr/>
        </p:nvSpPr>
        <p:spPr>
          <a:xfrm>
            <a:off x="1976582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 Hypothesis for Linear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6632E04-44E7-A704-6494-85DA440F23E2}"/>
              </a:ext>
            </a:extLst>
          </p:cNvPr>
          <p:cNvSpPr txBox="1"/>
          <p:nvPr/>
        </p:nvSpPr>
        <p:spPr>
          <a:xfrm>
            <a:off x="2493818" y="2745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hypothesis of linear regression is given by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1E6C7DA-E006-6AA2-E4A1-8EB6702A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635" y="3244334"/>
            <a:ext cx="6107152" cy="3693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65E9C29-8D12-175F-AD59-B1DA8F23AFDE}"/>
              </a:ext>
            </a:extLst>
          </p:cNvPr>
          <p:cNvSpPr txBox="1"/>
          <p:nvPr/>
        </p:nvSpPr>
        <p:spPr>
          <a:xfrm>
            <a:off x="2493817" y="3837817"/>
            <a:ext cx="7592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Here, 𝑥 represents the input features, and 𝜃 represents the coefficients or weights learned by the model.</a:t>
            </a:r>
          </a:p>
        </p:txBody>
      </p:sp>
    </p:spTree>
    <p:extLst>
      <p:ext uri="{BB962C8B-B14F-4D97-AF65-F5344CB8AC3E}">
        <p14:creationId xmlns:p14="http://schemas.microsoft.com/office/powerpoint/2010/main" val="218809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6672240-236C-B3B2-BBEA-75EC3C1D7FB3}"/>
              </a:ext>
            </a:extLst>
          </p:cNvPr>
          <p:cNvSpPr txBox="1"/>
          <p:nvPr/>
        </p:nvSpPr>
        <p:spPr>
          <a:xfrm>
            <a:off x="221672" y="1544997"/>
            <a:ext cx="5074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522A898-6AEC-DB8F-0EA6-998A1890505F}"/>
              </a:ext>
            </a:extLst>
          </p:cNvPr>
          <p:cNvSpPr txBox="1"/>
          <p:nvPr/>
        </p:nvSpPr>
        <p:spPr>
          <a:xfrm>
            <a:off x="1182255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Regression Equation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C5D7A9-AF48-194F-0B9A-280273D2A0EB}"/>
              </a:ext>
            </a:extLst>
          </p:cNvPr>
          <p:cNvSpPr txBox="1"/>
          <p:nvPr/>
        </p:nvSpPr>
        <p:spPr>
          <a:xfrm>
            <a:off x="1976582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Extension for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1AB8C67-AD45-CB9B-93EC-9F309D6C04EF}"/>
              </a:ext>
            </a:extLst>
          </p:cNvPr>
          <p:cNvSpPr txBox="1"/>
          <p:nvPr/>
        </p:nvSpPr>
        <p:spPr>
          <a:xfrm>
            <a:off x="2493818" y="2745326"/>
            <a:ext cx="772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uses the </a:t>
            </a:r>
            <a:r>
              <a:rPr lang="en-US" b="1" dirty="0"/>
              <a:t>same linear hypothesis</a:t>
            </a:r>
            <a:r>
              <a:rPr lang="en-US" dirty="0"/>
              <a:t> but transforms the output using the </a:t>
            </a:r>
            <a:r>
              <a:rPr lang="en-US" b="1" dirty="0"/>
              <a:t>sigmoid function</a:t>
            </a:r>
            <a:r>
              <a:rPr lang="en-US" dirty="0"/>
              <a:t> to convert the values into probabilities.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E10432C-B267-A439-4A19-25DE565E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43" y="3633355"/>
            <a:ext cx="65341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4573F93-3AA4-2711-3802-827324DB5939}"/>
              </a:ext>
            </a:extLst>
          </p:cNvPr>
          <p:cNvSpPr txBox="1"/>
          <p:nvPr/>
        </p:nvSpPr>
        <p:spPr>
          <a:xfrm>
            <a:off x="221672" y="1544997"/>
            <a:ext cx="7150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CB329D-B51E-AB1B-6989-68DB14A4A40D}"/>
              </a:ext>
            </a:extLst>
          </p:cNvPr>
          <p:cNvSpPr txBox="1"/>
          <p:nvPr/>
        </p:nvSpPr>
        <p:spPr>
          <a:xfrm>
            <a:off x="766618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Regression Equation with Sigmoid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03125F9-CB88-1728-3469-A5649E2CEAF6}"/>
              </a:ext>
            </a:extLst>
          </p:cNvPr>
          <p:cNvSpPr txBox="1"/>
          <p:nvPr/>
        </p:nvSpPr>
        <p:spPr>
          <a:xfrm>
            <a:off x="2004291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Logistic Hypothesis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A138E8-09FD-CBE5-A16C-79BDB123FAD3}"/>
              </a:ext>
            </a:extLst>
          </p:cNvPr>
          <p:cNvSpPr txBox="1"/>
          <p:nvPr/>
        </p:nvSpPr>
        <p:spPr>
          <a:xfrm>
            <a:off x="2382982" y="2745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hypothesis for logistic regression is represented as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A6AB52F-DBC6-36C6-CAFD-29234FE6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51" y="2720442"/>
            <a:ext cx="2028825" cy="419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12B3133-32EE-5079-C880-67CA1EB871F9}"/>
              </a:ext>
            </a:extLst>
          </p:cNvPr>
          <p:cNvSpPr txBox="1"/>
          <p:nvPr/>
        </p:nvSpPr>
        <p:spPr>
          <a:xfrm>
            <a:off x="2687781" y="3072128"/>
            <a:ext cx="7664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𝜎 is the sigmoid function, which converts the linear equation's output into a probability.</a:t>
            </a:r>
          </a:p>
        </p:txBody>
      </p:sp>
    </p:spTree>
    <p:extLst>
      <p:ext uri="{BB962C8B-B14F-4D97-AF65-F5344CB8AC3E}">
        <p14:creationId xmlns:p14="http://schemas.microsoft.com/office/powerpoint/2010/main" val="380225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02F1999-C380-FA9D-A2C6-504988BA5A5E}"/>
              </a:ext>
            </a:extLst>
          </p:cNvPr>
          <p:cNvSpPr txBox="1"/>
          <p:nvPr/>
        </p:nvSpPr>
        <p:spPr>
          <a:xfrm>
            <a:off x="221672" y="1544997"/>
            <a:ext cx="5779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C661DEE-7E84-3B2C-405A-960AE19E2569}"/>
              </a:ext>
            </a:extLst>
          </p:cNvPr>
          <p:cNvSpPr txBox="1"/>
          <p:nvPr/>
        </p:nvSpPr>
        <p:spPr>
          <a:xfrm>
            <a:off x="766618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Regression Equation with Sigmoid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E677DDB-88B1-7BC2-F270-DE99C18A8D21}"/>
              </a:ext>
            </a:extLst>
          </p:cNvPr>
          <p:cNvSpPr txBox="1"/>
          <p:nvPr/>
        </p:nvSpPr>
        <p:spPr>
          <a:xfrm>
            <a:off x="2004291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Probabilistic Interpretation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C72928-DE65-7DEA-870A-C3E4FB6AFDC2}"/>
              </a:ext>
            </a:extLst>
          </p:cNvPr>
          <p:cNvSpPr txBox="1"/>
          <p:nvPr/>
        </p:nvSpPr>
        <p:spPr>
          <a:xfrm>
            <a:off x="2382981" y="2745326"/>
            <a:ext cx="8525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this equation, 𝑦^ represents the predicted probability that the instance 𝑥 belongs to class 1. Based on this probability, logistic regression makes a decision about the class.</a:t>
            </a:r>
          </a:p>
        </p:txBody>
      </p:sp>
    </p:spTree>
    <p:extLst>
      <p:ext uri="{BB962C8B-B14F-4D97-AF65-F5344CB8AC3E}">
        <p14:creationId xmlns:p14="http://schemas.microsoft.com/office/powerpoint/2010/main" val="126516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7430CF8-437C-574B-C8DA-CFCF37366617}"/>
              </a:ext>
            </a:extLst>
          </p:cNvPr>
          <p:cNvSpPr txBox="1"/>
          <p:nvPr/>
        </p:nvSpPr>
        <p:spPr>
          <a:xfrm>
            <a:off x="221672" y="1544997"/>
            <a:ext cx="8779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D845017-0367-B906-86A2-229C6674A99C}"/>
              </a:ext>
            </a:extLst>
          </p:cNvPr>
          <p:cNvSpPr txBox="1"/>
          <p:nvPr/>
        </p:nvSpPr>
        <p:spPr>
          <a:xfrm>
            <a:off x="12561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Sigmoid Function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16CB8E3-E0ED-7BB5-DDC5-B44A31BE48FE}"/>
              </a:ext>
            </a:extLst>
          </p:cNvPr>
          <p:cNvSpPr txBox="1"/>
          <p:nvPr/>
        </p:nvSpPr>
        <p:spPr>
          <a:xfrm>
            <a:off x="2022764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Application of Sigmoid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C8673BD-35E8-9F43-BFE3-3BE9C68ED2B9}"/>
              </a:ext>
            </a:extLst>
          </p:cNvPr>
          <p:cNvSpPr txBox="1"/>
          <p:nvPr/>
        </p:nvSpPr>
        <p:spPr>
          <a:xfrm>
            <a:off x="2539999" y="2690336"/>
            <a:ext cx="7998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sigmoid function</a:t>
            </a:r>
            <a:r>
              <a:rPr lang="en-US" dirty="0"/>
              <a:t> is applied to the linear model's raw output to map it to a value between </a:t>
            </a:r>
            <a:r>
              <a:rPr lang="en-US" b="1" dirty="0"/>
              <a:t>0 and 1</a:t>
            </a:r>
            <a:r>
              <a:rPr lang="en-US" dirty="0"/>
              <a:t>. This makes it possible to compare the predicted output with a threshold value (e.g., 0.5) and classify the input accordingly.</a:t>
            </a:r>
          </a:p>
        </p:txBody>
      </p:sp>
    </p:spTree>
    <p:extLst>
      <p:ext uri="{BB962C8B-B14F-4D97-AF65-F5344CB8AC3E}">
        <p14:creationId xmlns:p14="http://schemas.microsoft.com/office/powerpoint/2010/main" val="242907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5B48EC3-F4AB-BB1C-6B15-5E9B986EB6E7}"/>
              </a:ext>
            </a:extLst>
          </p:cNvPr>
          <p:cNvSpPr txBox="1"/>
          <p:nvPr/>
        </p:nvSpPr>
        <p:spPr>
          <a:xfrm>
            <a:off x="221672" y="1544997"/>
            <a:ext cx="389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950253A-29E5-7127-2D0F-683B4150A055}"/>
              </a:ext>
            </a:extLst>
          </p:cNvPr>
          <p:cNvSpPr txBox="1"/>
          <p:nvPr/>
        </p:nvSpPr>
        <p:spPr>
          <a:xfrm>
            <a:off x="12561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Sigmoid Function Explanation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C729785-E8DA-83B7-C3A1-DB05A3387759}"/>
              </a:ext>
            </a:extLst>
          </p:cNvPr>
          <p:cNvSpPr txBox="1"/>
          <p:nvPr/>
        </p:nvSpPr>
        <p:spPr>
          <a:xfrm>
            <a:off x="2022764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Graph of Sigmoid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323C4F-4D5F-AFA1-E01B-BF2A54D684C3}"/>
              </a:ext>
            </a:extLst>
          </p:cNvPr>
          <p:cNvSpPr txBox="1"/>
          <p:nvPr/>
        </p:nvSpPr>
        <p:spPr>
          <a:xfrm>
            <a:off x="2539999" y="2690336"/>
            <a:ext cx="7998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sigmoid function graph shows the curve with values transitioning from </a:t>
            </a:r>
            <a:r>
              <a:rPr lang="en-US" b="1" dirty="0"/>
              <a:t>0</a:t>
            </a:r>
            <a:r>
              <a:rPr lang="en-US" dirty="0"/>
              <a:t> to </a:t>
            </a:r>
            <a:r>
              <a:rPr lang="en-US" b="1" dirty="0"/>
              <a:t>1</a:t>
            </a:r>
            <a:r>
              <a:rPr lang="en-US" dirty="0"/>
              <a:t>, with the steepest part of the curve near 0.5, indicating the threshold for classification.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A42E9E9-0D03-EC7C-8278-F0ACF6E7E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368" y="3797184"/>
            <a:ext cx="6886286" cy="229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6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7647C7-43E5-CBCD-643D-F213980E6838}"/>
              </a:ext>
            </a:extLst>
          </p:cNvPr>
          <p:cNvSpPr txBox="1"/>
          <p:nvPr/>
        </p:nvSpPr>
        <p:spPr>
          <a:xfrm>
            <a:off x="221672" y="1544997"/>
            <a:ext cx="3962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45F8678-E77C-D31A-280A-FE3313ED0614}"/>
              </a:ext>
            </a:extLst>
          </p:cNvPr>
          <p:cNvSpPr txBox="1"/>
          <p:nvPr/>
        </p:nvSpPr>
        <p:spPr>
          <a:xfrm>
            <a:off x="1136073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Logistic Regression Decision Boundary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8EE393B-DAEB-B292-1566-195A9B0034BB}"/>
              </a:ext>
            </a:extLst>
          </p:cNvPr>
          <p:cNvSpPr txBox="1"/>
          <p:nvPr/>
        </p:nvSpPr>
        <p:spPr>
          <a:xfrm>
            <a:off x="1967346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Hypothesis for Class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5CF6CBE-112C-42D1-98C5-0E351F21C938}"/>
              </a:ext>
            </a:extLst>
          </p:cNvPr>
          <p:cNvSpPr txBox="1"/>
          <p:nvPr/>
        </p:nvSpPr>
        <p:spPr>
          <a:xfrm>
            <a:off x="2429164" y="27565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hypothesis function returns the probability that 𝑦=1, given 𝑥, parameterized by 𝜃. The formula is: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B7162DA-772A-6BEE-45D1-8A15951F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490" y="3429000"/>
            <a:ext cx="3053602" cy="7282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ED5E498-AFB9-AA63-BA71-981528E6F0AC}"/>
              </a:ext>
            </a:extLst>
          </p:cNvPr>
          <p:cNvSpPr txBox="1"/>
          <p:nvPr/>
        </p:nvSpPr>
        <p:spPr>
          <a:xfrm>
            <a:off x="1967346" y="41572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Decision Boundary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E8427481-F574-8CD2-386E-8615FA043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164" y="4673832"/>
            <a:ext cx="74580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8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C564845-C9AB-212F-1052-1779B7B7D076}"/>
              </a:ext>
            </a:extLst>
          </p:cNvPr>
          <p:cNvSpPr txBox="1"/>
          <p:nvPr/>
        </p:nvSpPr>
        <p:spPr>
          <a:xfrm>
            <a:off x="3394363" y="2782669"/>
            <a:ext cx="5403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Classifcation metrics </a:t>
            </a:r>
          </a:p>
        </p:txBody>
      </p:sp>
    </p:spTree>
    <p:extLst>
      <p:ext uri="{BB962C8B-B14F-4D97-AF65-F5344CB8AC3E}">
        <p14:creationId xmlns:p14="http://schemas.microsoft.com/office/powerpoint/2010/main" val="43497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65E7843-AA02-DBCF-8A86-096CEC54137B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B6E3160-A2A2-13DC-9BE3-1C46A11326CD}"/>
              </a:ext>
            </a:extLst>
          </p:cNvPr>
          <p:cNvSpPr txBox="1"/>
          <p:nvPr/>
        </p:nvSpPr>
        <p:spPr>
          <a:xfrm>
            <a:off x="1422400" y="2006662"/>
            <a:ext cx="934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When working with classification problems, especially binary or multiclass classification, we need to evaluate how well our model is performing. For this, we use a set of metrics called </a:t>
            </a:r>
            <a:r>
              <a:rPr lang="en-US" b="1" dirty="0"/>
              <a:t>classification metrics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60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C540749-CED3-93E6-8222-DC1BEC9C865B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28B7F4-5BE4-4C92-0EC2-CBACEE7DF152}"/>
              </a:ext>
            </a:extLst>
          </p:cNvPr>
          <p:cNvSpPr txBox="1"/>
          <p:nvPr/>
        </p:nvSpPr>
        <p:spPr>
          <a:xfrm>
            <a:off x="1847272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Confusion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0D9DBF2-5CD0-5F4C-49F4-6EDDA34EF4EF}"/>
              </a:ext>
            </a:extLst>
          </p:cNvPr>
          <p:cNvSpPr txBox="1"/>
          <p:nvPr/>
        </p:nvSpPr>
        <p:spPr>
          <a:xfrm>
            <a:off x="2382982" y="2322886"/>
            <a:ext cx="8340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confusion matrix</a:t>
            </a:r>
            <a:r>
              <a:rPr lang="en-US" dirty="0"/>
              <a:t> is the foundation of most classification metrics. It is a 2x2 table (for binary classification) that shows the </a:t>
            </a:r>
            <a:r>
              <a:rPr lang="en-US" b="1" dirty="0"/>
              <a:t>actual vs predicted</a:t>
            </a:r>
            <a:r>
              <a:rPr lang="en-US" dirty="0"/>
              <a:t> values in four categories: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78AD0D5-ACE5-B171-6B12-23ED86EAABE6}"/>
              </a:ext>
            </a:extLst>
          </p:cNvPr>
          <p:cNvSpPr txBox="1"/>
          <p:nvPr/>
        </p:nvSpPr>
        <p:spPr>
          <a:xfrm>
            <a:off x="3048000" y="3246643"/>
            <a:ext cx="8340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Positives (TP)</a:t>
            </a:r>
            <a:r>
              <a:rPr lang="en-US" sz="1600" dirty="0"/>
              <a:t>: Correctly predicted positive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True Negatives (TN)</a:t>
            </a:r>
            <a:r>
              <a:rPr lang="en-US" sz="1600" dirty="0"/>
              <a:t>: Correctly predicted negative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False Positives (FP)</a:t>
            </a:r>
            <a:r>
              <a:rPr lang="en-US" sz="1600" dirty="0"/>
              <a:t>: Incorrectly predicted positive classes (also called </a:t>
            </a:r>
            <a:r>
              <a:rPr lang="en-US" sz="1600" b="1" dirty="0"/>
              <a:t>Type I Error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False Negatives (FN)</a:t>
            </a:r>
            <a:r>
              <a:rPr lang="en-US" sz="1600" dirty="0"/>
              <a:t>: Incorrectly predicted negative classes (also called </a:t>
            </a:r>
            <a:r>
              <a:rPr lang="en-US" sz="1600" b="1" dirty="0"/>
              <a:t>Type II Error</a:t>
            </a:r>
            <a:r>
              <a:rPr lang="en-US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3932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EB1F907-8EA7-BDFA-1640-8BED60FA3B8A}"/>
              </a:ext>
            </a:extLst>
          </p:cNvPr>
          <p:cNvSpPr txBox="1"/>
          <p:nvPr/>
        </p:nvSpPr>
        <p:spPr>
          <a:xfrm>
            <a:off x="1847272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Confusion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86186F-1CF5-6830-349F-AF7E13EE103F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pic>
        <p:nvPicPr>
          <p:cNvPr id="1026" name="Picture 2" descr="How to interpret a confusion matrix for a machine learning model">
            <a:extLst>
              <a:ext uri="{FF2B5EF4-FFF2-40B4-BE49-F238E27FC236}">
                <a16:creationId xmlns:a16="http://schemas.microsoft.com/office/drawing/2014/main" xmlns="" id="{105459D6-9C4E-85E7-593B-285483A15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957" y="2468327"/>
            <a:ext cx="5741843" cy="323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02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3CD942E-2336-A06F-8634-35A4F20A77E9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AC2FF02-36E8-526C-D019-1CA81A08190F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Accuracy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28B4219-9D5D-5BB0-5BB3-667E953C461D}"/>
              </a:ext>
            </a:extLst>
          </p:cNvPr>
          <p:cNvSpPr txBox="1"/>
          <p:nvPr/>
        </p:nvSpPr>
        <p:spPr>
          <a:xfrm>
            <a:off x="2253672" y="2375994"/>
            <a:ext cx="8155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is the most intuitive and simple classification metric. It measures the percentage of correctly predicted instances out of all instances.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FF6B5FD-5F76-F4E1-3D3B-4B0070EDA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032" y="3177307"/>
            <a:ext cx="4674988" cy="979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CEED6E6-1501-C3F1-6B6F-243FF3BBF080}"/>
              </a:ext>
            </a:extLst>
          </p:cNvPr>
          <p:cNvSpPr txBox="1"/>
          <p:nvPr/>
        </p:nvSpPr>
        <p:spPr>
          <a:xfrm>
            <a:off x="2573020" y="4311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Imagine you have 100 predictions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C82796D-E51F-88E1-13CF-0B5CC6FE6234}"/>
              </a:ext>
            </a:extLst>
          </p:cNvPr>
          <p:cNvSpPr txBox="1"/>
          <p:nvPr/>
        </p:nvSpPr>
        <p:spPr>
          <a:xfrm>
            <a:off x="2895599" y="46806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80 are correct (either TP or TN)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20 are incorrect (either FP or FN)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2EAB12A-2CE9-4214-6CA0-2696050B3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24" y="5330109"/>
            <a:ext cx="1032121" cy="6780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230503D-BD66-A84A-AF7B-27FD22B58315}"/>
              </a:ext>
            </a:extLst>
          </p:cNvPr>
          <p:cNvSpPr txBox="1"/>
          <p:nvPr/>
        </p:nvSpPr>
        <p:spPr>
          <a:xfrm>
            <a:off x="2573020" y="5420433"/>
            <a:ext cx="2629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accuracy would be</a:t>
            </a:r>
          </a:p>
        </p:txBody>
      </p:sp>
    </p:spTree>
    <p:extLst>
      <p:ext uri="{BB962C8B-B14F-4D97-AF65-F5344CB8AC3E}">
        <p14:creationId xmlns:p14="http://schemas.microsoft.com/office/powerpoint/2010/main" val="165647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2837F70-8329-ED72-1D40-7B4BB088F972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3616FFA-9086-8513-CEEC-66DCE5A2ED70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Accuracy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211BF32-3C01-B293-4DA3-B25C1ED89AE9}"/>
              </a:ext>
            </a:extLst>
          </p:cNvPr>
          <p:cNvSpPr txBox="1"/>
          <p:nvPr/>
        </p:nvSpPr>
        <p:spPr>
          <a:xfrm>
            <a:off x="2392218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Note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A8DDA16-5D12-8BC4-E144-C15BC0AAC66D}"/>
              </a:ext>
            </a:extLst>
          </p:cNvPr>
          <p:cNvSpPr txBox="1"/>
          <p:nvPr/>
        </p:nvSpPr>
        <p:spPr>
          <a:xfrm>
            <a:off x="2687781" y="2745326"/>
            <a:ext cx="79525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is a good metric when the data is </a:t>
            </a:r>
            <a:r>
              <a:rPr lang="en-US" b="1" dirty="0"/>
              <a:t>balanced</a:t>
            </a:r>
            <a:r>
              <a:rPr lang="en-US" dirty="0"/>
              <a:t>, meaning there are roughly equal numbers of positive and negative examples.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for </a:t>
            </a:r>
            <a:r>
              <a:rPr lang="en-US" b="1" dirty="0"/>
              <a:t>imbalanced datasets</a:t>
            </a:r>
            <a:r>
              <a:rPr lang="en-US" dirty="0"/>
              <a:t>, accuracy can be misleading because the model could simply predict the majority class and achieve high accuracy.</a:t>
            </a:r>
          </a:p>
        </p:txBody>
      </p:sp>
    </p:spTree>
    <p:extLst>
      <p:ext uri="{BB962C8B-B14F-4D97-AF65-F5344CB8AC3E}">
        <p14:creationId xmlns:p14="http://schemas.microsoft.com/office/powerpoint/2010/main" val="168024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1385D2B-0D31-58F2-850B-7C4FA93E01D5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4B9FC0-DFA9-1502-65DF-DF55EE496BE3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Precision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0C45FFF-B982-4B8F-5BE1-96679F9D9D5E}"/>
              </a:ext>
            </a:extLst>
          </p:cNvPr>
          <p:cNvSpPr txBox="1"/>
          <p:nvPr/>
        </p:nvSpPr>
        <p:spPr>
          <a:xfrm>
            <a:off x="2272145" y="2375994"/>
            <a:ext cx="7675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Precision</a:t>
            </a:r>
            <a:r>
              <a:rPr lang="en-US" dirty="0"/>
              <a:t> is the ratio of correctly predicted positive observations to the total predicted positives. It tells us how many of the predicted positives are actually correct.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466642D-7BC5-89F1-5296-680667AF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689" y="3206991"/>
            <a:ext cx="2735793" cy="9233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0C84ABE-C4EF-3719-BEAA-F39D879942E7}"/>
              </a:ext>
            </a:extLst>
          </p:cNvPr>
          <p:cNvSpPr txBox="1"/>
          <p:nvPr/>
        </p:nvSpPr>
        <p:spPr>
          <a:xfrm>
            <a:off x="2641600" y="4130321"/>
            <a:ext cx="7305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If your model predicts 30 positives, and 25 of them are actually correct (TP), while 5 are incorrect (FP), the precision would be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0F22D78-EAE9-F090-53ED-1C16B28C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836" y="5141212"/>
            <a:ext cx="1865746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8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EAE540-7E23-DB41-84B5-5AF73280B0A7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21E5E7-FB73-0A2C-4E77-3CF336953E78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Precision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BF78353-1B80-DBC6-32B1-156FDBF91A06}"/>
              </a:ext>
            </a:extLst>
          </p:cNvPr>
          <p:cNvSpPr txBox="1"/>
          <p:nvPr/>
        </p:nvSpPr>
        <p:spPr>
          <a:xfrm>
            <a:off x="2336800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0BF91FB-99CA-FBA4-0B2E-5F610A2FDD4F}"/>
              </a:ext>
            </a:extLst>
          </p:cNvPr>
          <p:cNvSpPr txBox="1"/>
          <p:nvPr/>
        </p:nvSpPr>
        <p:spPr>
          <a:xfrm>
            <a:off x="2604654" y="2745326"/>
            <a:ext cx="6936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is important in situations where </a:t>
            </a:r>
            <a:r>
              <a:rPr lang="en-US" b="1" dirty="0"/>
              <a:t>false positives</a:t>
            </a:r>
            <a:r>
              <a:rPr lang="en-US" dirty="0"/>
              <a:t> are costly, such as in email spam classification (false spam predictions are problematic).</a:t>
            </a:r>
          </a:p>
        </p:txBody>
      </p:sp>
    </p:spTree>
    <p:extLst>
      <p:ext uri="{BB962C8B-B14F-4D97-AF65-F5344CB8AC3E}">
        <p14:creationId xmlns:p14="http://schemas.microsoft.com/office/powerpoint/2010/main" val="228665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3931C82-A86A-BF42-0765-C62B3B734FCA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E5A498A-F4BD-DEE8-7C90-1FD2812803E9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Recall (Sensitivity or True Positive Rate)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98A6C1-AD46-2D95-BE24-4E324CC124F7}"/>
              </a:ext>
            </a:extLst>
          </p:cNvPr>
          <p:cNvSpPr txBox="1"/>
          <p:nvPr/>
        </p:nvSpPr>
        <p:spPr>
          <a:xfrm>
            <a:off x="2401454" y="2375994"/>
            <a:ext cx="86729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Recall</a:t>
            </a:r>
            <a:r>
              <a:rPr lang="en-US" dirty="0"/>
              <a:t> measures the proportion of actual positives that were correctly identified. It answers the question: </a:t>
            </a:r>
            <a:r>
              <a:rPr lang="en-US" b="1" dirty="0"/>
              <a:t>Of all the actual positives, how many did we correctly identify?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831198B-7BFC-E017-7867-E879FFB1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271" y="3241834"/>
            <a:ext cx="2549547" cy="853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323A9FA-6365-B8F9-0280-D4089A7B3A3F}"/>
              </a:ext>
            </a:extLst>
          </p:cNvPr>
          <p:cNvSpPr txBox="1"/>
          <p:nvPr/>
        </p:nvSpPr>
        <p:spPr>
          <a:xfrm>
            <a:off x="2780145" y="4095477"/>
            <a:ext cx="7952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there are 50 actual positives, and your model correctly predicted 40 of them, but missed 10, your recall would be: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483EEB-F657-DFFD-A7B4-F5D78ACC6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334" y="5063448"/>
            <a:ext cx="1563101" cy="9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4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1F049D7-E289-66C5-CC53-02CBF991EF0B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9A50C87-632C-308F-7DB4-15FE9FED207C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Recall (Sensitivity or True Positive Rate)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14DFE21-B018-8B3E-63A2-BBAE8A4D8A94}"/>
              </a:ext>
            </a:extLst>
          </p:cNvPr>
          <p:cNvSpPr txBox="1"/>
          <p:nvPr/>
        </p:nvSpPr>
        <p:spPr>
          <a:xfrm>
            <a:off x="2429163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59A7D10-9FE8-5FC6-28EA-D97C4F2612E3}"/>
              </a:ext>
            </a:extLst>
          </p:cNvPr>
          <p:cNvSpPr txBox="1"/>
          <p:nvPr/>
        </p:nvSpPr>
        <p:spPr>
          <a:xfrm>
            <a:off x="2817091" y="2745326"/>
            <a:ext cx="7869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Recall is crucial in situations where </a:t>
            </a:r>
            <a:r>
              <a:rPr lang="en-US" b="1" dirty="0"/>
              <a:t>false negatives</a:t>
            </a:r>
            <a:r>
              <a:rPr lang="en-US" dirty="0"/>
              <a:t> are costly, such as disease detection. Missing a positive case (false negative) is more harmful than incorrectly predicting one.</a:t>
            </a:r>
          </a:p>
        </p:txBody>
      </p:sp>
    </p:spTree>
    <p:extLst>
      <p:ext uri="{BB962C8B-B14F-4D97-AF65-F5344CB8AC3E}">
        <p14:creationId xmlns:p14="http://schemas.microsoft.com/office/powerpoint/2010/main" val="29042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34A3A1-08C5-EBE2-4307-582AB10040BC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AB6F7AD-F5E9-B5D1-C2DC-49DB1FAF489F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F1-Score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ED03273-80F8-38AB-9FD5-1FD24B881731}"/>
              </a:ext>
            </a:extLst>
          </p:cNvPr>
          <p:cNvSpPr txBox="1"/>
          <p:nvPr/>
        </p:nvSpPr>
        <p:spPr>
          <a:xfrm>
            <a:off x="2170545" y="2375994"/>
            <a:ext cx="7952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F1-score</a:t>
            </a:r>
            <a:r>
              <a:rPr lang="en-US" dirty="0"/>
              <a:t> combines precision and recall into one metric by calculating the </a:t>
            </a:r>
            <a:r>
              <a:rPr lang="en-US" b="1" dirty="0"/>
              <a:t>harmonic mean</a:t>
            </a:r>
            <a:r>
              <a:rPr lang="en-US" dirty="0"/>
              <a:t> of both. It’s particularly useful when you want to balance both precision and recall.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5B2DD48-1F61-C29E-FD44-2413E401A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46" y="3429000"/>
            <a:ext cx="3657600" cy="68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C395B55-37F9-9C10-5804-37743A72B8A7}"/>
              </a:ext>
            </a:extLst>
          </p:cNvPr>
          <p:cNvSpPr txBox="1"/>
          <p:nvPr/>
        </p:nvSpPr>
        <p:spPr>
          <a:xfrm>
            <a:off x="2503054" y="4244476"/>
            <a:ext cx="7195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your model has a precision of 80% and a recall of 70%, the F1-score would be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61334E1-2F51-C6F6-670D-DF1197700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1" y="4707527"/>
            <a:ext cx="30194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76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FA0172C-4999-2411-E819-EDE6362FC6BB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87F3417-5495-AC69-C655-EAD56018D61A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F1-Score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9ED165A-0C8C-9BCF-F89E-1FD8E2C35E78}"/>
              </a:ext>
            </a:extLst>
          </p:cNvPr>
          <p:cNvSpPr txBox="1"/>
          <p:nvPr/>
        </p:nvSpPr>
        <p:spPr>
          <a:xfrm>
            <a:off x="2281382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E367779-48E1-E8D0-1342-16CED4531D86}"/>
              </a:ext>
            </a:extLst>
          </p:cNvPr>
          <p:cNvSpPr txBox="1"/>
          <p:nvPr/>
        </p:nvSpPr>
        <p:spPr>
          <a:xfrm>
            <a:off x="2595418" y="2745326"/>
            <a:ext cx="81649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F1-score is a great metric when you need a balance between precision and recall. It’s especially useful in imbalanced datasets where accuracy can be misleading.</a:t>
            </a:r>
          </a:p>
        </p:txBody>
      </p:sp>
    </p:spTree>
    <p:extLst>
      <p:ext uri="{BB962C8B-B14F-4D97-AF65-F5344CB8AC3E}">
        <p14:creationId xmlns:p14="http://schemas.microsoft.com/office/powerpoint/2010/main" val="1833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49AA57-C1E7-59AD-0741-5F6C0167FBE6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EF06F41-A188-6BCE-F607-6C2B32EAF6F6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ROC Curve and AUC (Area Under the Curve)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786634-DFCF-4A9D-557E-D7DFA65955E5}"/>
              </a:ext>
            </a:extLst>
          </p:cNvPr>
          <p:cNvSpPr txBox="1"/>
          <p:nvPr/>
        </p:nvSpPr>
        <p:spPr>
          <a:xfrm>
            <a:off x="2281381" y="2375994"/>
            <a:ext cx="7324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Receiver Operating Characteristic (ROC) curve</a:t>
            </a:r>
            <a:r>
              <a:rPr lang="en-US" dirty="0"/>
              <a:t> is a graphical representation that shows the performance of a binary classifier as the discrimination threshold is varied.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68A0D24-37C8-5343-7BA1-F6CBD9AB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07" y="3429000"/>
            <a:ext cx="4019550" cy="771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06AF3BB-9D9F-B1AD-147F-5BFFD0652FA2}"/>
              </a:ext>
            </a:extLst>
          </p:cNvPr>
          <p:cNvSpPr txBox="1"/>
          <p:nvPr/>
        </p:nvSpPr>
        <p:spPr>
          <a:xfrm>
            <a:off x="2576945" y="4389673"/>
            <a:ext cx="702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ROC curve</a:t>
            </a:r>
            <a:r>
              <a:rPr lang="en-US" dirty="0"/>
              <a:t> plots the TPR against the FPR at different threshold levels. The closer the curve is to the top-left corner, the better the model.</a:t>
            </a:r>
          </a:p>
        </p:txBody>
      </p:sp>
    </p:spTree>
    <p:extLst>
      <p:ext uri="{BB962C8B-B14F-4D97-AF65-F5344CB8AC3E}">
        <p14:creationId xmlns:p14="http://schemas.microsoft.com/office/powerpoint/2010/main" val="247318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C794DD-1BF7-6724-8BF6-F6E5A3191DAD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A352E6F-3E73-B6F0-7DE1-F840C5DC1E19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ROC Curve and AUC (Area Under the Curve)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47E490-7C66-EB91-CA48-B2B64E43F509}"/>
              </a:ext>
            </a:extLst>
          </p:cNvPr>
          <p:cNvSpPr txBox="1"/>
          <p:nvPr/>
        </p:nvSpPr>
        <p:spPr>
          <a:xfrm>
            <a:off x="2373746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AUC (Area Under the Curve)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688A9D8-F5CD-CC17-CE66-F692180043A2}"/>
              </a:ext>
            </a:extLst>
          </p:cNvPr>
          <p:cNvSpPr txBox="1"/>
          <p:nvPr/>
        </p:nvSpPr>
        <p:spPr>
          <a:xfrm>
            <a:off x="2881746" y="2745326"/>
            <a:ext cx="7167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AUC</a:t>
            </a:r>
            <a:r>
              <a:rPr lang="en-US" dirty="0"/>
              <a:t> value represents the degree of separability. Higher AUC means the model is better at distinguishing between positive and negative classes.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CD0359E-AEAC-DA9B-CD0B-8FF3ED49CAF5}"/>
              </a:ext>
            </a:extLst>
          </p:cNvPr>
          <p:cNvSpPr txBox="1"/>
          <p:nvPr/>
        </p:nvSpPr>
        <p:spPr>
          <a:xfrm>
            <a:off x="3112655" y="36686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AUC ranges from 0 to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8BA532B-C25D-4973-7F5F-093059CB079F}"/>
              </a:ext>
            </a:extLst>
          </p:cNvPr>
          <p:cNvSpPr txBox="1"/>
          <p:nvPr/>
        </p:nvSpPr>
        <p:spPr>
          <a:xfrm>
            <a:off x="3343564" y="40379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= Perfect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0.5 = Random guess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 = Completely wrong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9032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1359436-96E4-8D67-90F8-DCD587321F06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9B82D2-6C9B-ADB6-1364-886BDF058BB7}"/>
              </a:ext>
            </a:extLst>
          </p:cNvPr>
          <p:cNvSpPr txBox="1"/>
          <p:nvPr/>
        </p:nvSpPr>
        <p:spPr>
          <a:xfrm>
            <a:off x="1976584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AUC (Area Under the Curve)</a:t>
            </a:r>
          </a:p>
        </p:txBody>
      </p:sp>
      <p:pic>
        <p:nvPicPr>
          <p:cNvPr id="5" name="Picture 4" descr="A graph of a curve&#10;&#10;Description automatically generated">
            <a:extLst>
              <a:ext uri="{FF2B5EF4-FFF2-40B4-BE49-F238E27FC236}">
                <a16:creationId xmlns:a16="http://schemas.microsoft.com/office/drawing/2014/main" xmlns="" id="{BB88A1DD-0B90-7F0B-28F0-E2EF5C287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584" y="2567709"/>
            <a:ext cx="4714808" cy="3673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C3013F0-7F84-4D50-081A-482FB4465A63}"/>
              </a:ext>
            </a:extLst>
          </p:cNvPr>
          <p:cNvSpPr txBox="1"/>
          <p:nvPr/>
        </p:nvSpPr>
        <p:spPr>
          <a:xfrm>
            <a:off x="6816436" y="2567709"/>
            <a:ext cx="4714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ROC Curve is used to evaluate a classification model's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It plots True Positive Rate (TPR) against False Positive Rate (FPR) at different thresholds.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diagonal line represents random guessing.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orange line shows the model's performance with an AUC of 0.91, indicating strong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closer the curve is to the top left corner, the better the model distinguishes between classes.</a:t>
            </a:r>
          </a:p>
        </p:txBody>
      </p:sp>
    </p:spTree>
    <p:extLst>
      <p:ext uri="{BB962C8B-B14F-4D97-AF65-F5344CB8AC3E}">
        <p14:creationId xmlns:p14="http://schemas.microsoft.com/office/powerpoint/2010/main" val="208189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76007F-502E-B12F-487D-795783A98B59}"/>
              </a:ext>
            </a:extLst>
          </p:cNvPr>
          <p:cNvSpPr txBox="1"/>
          <p:nvPr/>
        </p:nvSpPr>
        <p:spPr>
          <a:xfrm>
            <a:off x="221672" y="1544997"/>
            <a:ext cx="3897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Classifcation metrics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EF78D1F-8814-4CC8-0262-C3EFB487E5A6}"/>
              </a:ext>
            </a:extLst>
          </p:cNvPr>
          <p:cNvSpPr txBox="1"/>
          <p:nvPr/>
        </p:nvSpPr>
        <p:spPr>
          <a:xfrm>
            <a:off x="1865746" y="2006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ROC Curve and AUC (Area Under the Curve)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D583772-BA3C-D395-BEA7-7A6ACCCFEE0D}"/>
              </a:ext>
            </a:extLst>
          </p:cNvPr>
          <p:cNvSpPr txBox="1"/>
          <p:nvPr/>
        </p:nvSpPr>
        <p:spPr>
          <a:xfrm>
            <a:off x="2373745" y="2375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E711678-F4A9-E083-0574-4DCE9C7FA077}"/>
              </a:ext>
            </a:extLst>
          </p:cNvPr>
          <p:cNvSpPr txBox="1"/>
          <p:nvPr/>
        </p:nvSpPr>
        <p:spPr>
          <a:xfrm>
            <a:off x="2697019" y="2745326"/>
            <a:ext cx="74814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ROC-AUC</a:t>
            </a:r>
            <a:r>
              <a:rPr lang="en-US" dirty="0"/>
              <a:t> is ideal when you care about the ranking of predictions rather than the exact predicted class.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helps to understand how well the model distinguishes between classes across all thresholds.</a:t>
            </a:r>
          </a:p>
        </p:txBody>
      </p:sp>
    </p:spTree>
    <p:extLst>
      <p:ext uri="{BB962C8B-B14F-4D97-AF65-F5344CB8AC3E}">
        <p14:creationId xmlns:p14="http://schemas.microsoft.com/office/powerpoint/2010/main" val="139640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142B1E5-BC60-669F-68C3-FE5817C68122}"/>
              </a:ext>
            </a:extLst>
          </p:cNvPr>
          <p:cNvSpPr txBox="1"/>
          <p:nvPr/>
        </p:nvSpPr>
        <p:spPr>
          <a:xfrm>
            <a:off x="184727" y="1325480"/>
            <a:ext cx="191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Quiz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694A8D-2382-B0AF-B065-353F77B80544}"/>
              </a:ext>
            </a:extLst>
          </p:cNvPr>
          <p:cNvSpPr txBox="1"/>
          <p:nvPr/>
        </p:nvSpPr>
        <p:spPr>
          <a:xfrm>
            <a:off x="1052945" y="1971811"/>
            <a:ext cx="10455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is Logistic Regression preferred for binary classification problems over Linear Regression?</a:t>
            </a:r>
          </a:p>
        </p:txBody>
      </p:sp>
      <p:pic>
        <p:nvPicPr>
          <p:cNvPr id="6" name="Picture 2" descr="Modern question mark for help and support page">
            <a:extLst>
              <a:ext uri="{FF2B5EF4-FFF2-40B4-BE49-F238E27FC236}">
                <a16:creationId xmlns:a16="http://schemas.microsoft.com/office/drawing/2014/main" xmlns="" id="{4B992283-E031-B4C2-BCB4-B6C9ACCB7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852" y="2931968"/>
            <a:ext cx="3676361" cy="367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29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4E81ACF-3CBF-8D11-BE73-D791E1F0F537}"/>
              </a:ext>
            </a:extLst>
          </p:cNvPr>
          <p:cNvSpPr txBox="1"/>
          <p:nvPr/>
        </p:nvSpPr>
        <p:spPr>
          <a:xfrm>
            <a:off x="184727" y="1325480"/>
            <a:ext cx="1911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Quiz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1F66189-5BDF-B859-F957-DC105B8F386E}"/>
              </a:ext>
            </a:extLst>
          </p:cNvPr>
          <p:cNvSpPr txBox="1"/>
          <p:nvPr/>
        </p:nvSpPr>
        <p:spPr>
          <a:xfrm>
            <a:off x="967565" y="19718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FAD6842-F813-9442-F99C-A1C7E948AEE0}"/>
              </a:ext>
            </a:extLst>
          </p:cNvPr>
          <p:cNvSpPr txBox="1"/>
          <p:nvPr/>
        </p:nvSpPr>
        <p:spPr>
          <a:xfrm>
            <a:off x="1140689" y="2341143"/>
            <a:ext cx="100837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Logistic Regression</a:t>
            </a:r>
            <a:r>
              <a:rPr lang="en-US" dirty="0"/>
              <a:t> is specifically designed for binary classification problems, as it outputs probabilities that range between 0 and 1 using a sigmoid function. The decision boundary (threshold) is then set (commonly at 0.5) to classify the outputs into one of two classes.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Linear Regression</a:t>
            </a:r>
            <a:r>
              <a:rPr lang="en-US" dirty="0"/>
              <a:t>, on the other hand, predicts continuous numeric values. When used for binary classification, it can produce values that go beyond the [0, 1] interval, which cannot be directly interpreted as probabilities. This makes it less suitable and less reliable for binary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4421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1424</Words>
  <Application>Microsoft Office PowerPoint</Application>
  <PresentationFormat>Custom</PresentationFormat>
  <Paragraphs>132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Nader Genidy</dc:creator>
  <cp:lastModifiedBy>Yahya Ashraf</cp:lastModifiedBy>
  <cp:revision>37</cp:revision>
  <dcterms:created xsi:type="dcterms:W3CDTF">2024-09-03T05:36:51Z</dcterms:created>
  <dcterms:modified xsi:type="dcterms:W3CDTF">2026-05-04T22:17:48Z</dcterms:modified>
</cp:coreProperties>
</file>